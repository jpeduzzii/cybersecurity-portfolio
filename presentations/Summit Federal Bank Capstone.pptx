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12192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urce Serif 4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FC127E-0537-4202-97A2-A1CFAFD184D5}">
  <a:tblStyle styleId="{66FC127E-0537-4202-97A2-A1CFAFD184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urceSerif4-bold.fntdata"/><Relationship Id="rId16" Type="http://schemas.openxmlformats.org/officeDocument/2006/relationships/font" Target="fonts/SourceSerif4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Serif4-boldItalic.fntdata"/><Relationship Id="rId6" Type="http://schemas.openxmlformats.org/officeDocument/2006/relationships/slide" Target="slides/slide1.xml"/><Relationship Id="rId18" Type="http://schemas.openxmlformats.org/officeDocument/2006/relationships/font" Target="fonts/SourceSerif4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CARTER (about 30 seconds). Introduce both of us and our roles. One-line framing: "Over four weeks we built a bank's environment, hardened it to PCI DSS, and then defended it against a live attack. We'll show you what we built, what happened, and what we learned." Then hand to Jack for the build.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JACK leads the left card (architecture, web host, Bastion, NSG, TLS from our internal CA). CARTER covers the four numbers (DC hardening). Points to land: - 120 to 23: the DC shipped with 120 open inbound rules. We cut to scoped rules (RDP from Bastion only, DNS/Kerberos from our subnet, SMB from the web host only) and proved it with an nmap scan from the web host: 4 ports reachable out of 65,535. - Out of the box the domain allowed unlimited password guesses (lockout threshold 0) and 7-character passwords. Now 14+ and lockout after 6 tries (PCI 8.3.4, 8.3.6). - Auditing was mostly off. We enabled 19 audit subcategories, command-line logging and PowerShell logging; removed Print Spooler, SMBv1, LLMNR, NetBIOS and legacy NTLM. - The customer share started with "Authenticated Users: Modify" — any domain account could change customer records. Now access is by job role. We simulated ransomware, restored from shadow copy, and verified all 101 files by hash. JACK: add web host hardening points here [ufw rules, SSH keys only, auditd, web root permissions].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CARTER leads (Incident Commander). JACK takes the containment row details. Story beats: - 12:41 the break-glass account logs on. Our daily-check script flags it at 12:42 — 40 seconds. Incident declared SEV1 at [12:44 — confirm]. - Every attacker action ran as SYSTEM through Azure Run Command — a management feature that runs scripts on the VM from the Azure portal. It never crossed our network, so the NSG and firewalls never saw it. That's the key insight. - The attacker wiped the Security log at 13:26. We still had the full timeline because our 13:24 monitoring report and evidence exports captured it first. - The hidden scheduled task's creation event was erased with the log. Event-based checks missed it; comparing the server against our hardened baseline found it. - Recovery: backdoor removed, task removed, all domain passwords reset including the Kerberos master key (krbtgt). Integrity check: 0 of 101 customer records changed. If asked "why didn't the firewall stop it": it never touched the network — it came from the cloud management plane.</a:t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CARTER leads; JACK adds one "what worked" from his side. Root cause in one sentence: someone with Azure-level rights and the break-glass password could run anything on our DC as SYSTEM — no control inside the server can block that. What we'd change — the order matters: 1. Restrict VM Contributor / Run Command (Azure RBAC, just-in-time access). This alone would have prevented the attack. 2. Central log forwarding. We installed and configured the Splunk forwarder; the receiving port couldn't be opened in the lab environment, so we used scheduled checks and evidence exports as a compensating control. 3. Break-glass credentials in a sealed vault, rotated after any use. 4. Process: containment calls go through the Incident Commander. Our teammates' actions were right but uncoordinated, which made the timeline harder to reconstruct. 5. State-based monitoring (scheduled tasks, admin groups vs baseline) on every run. Be honest that ~2 minutes of file-access audit data was lost in the wipe.</a:t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CARTER presents 01 and 02. JACK presents 03 in his own words. 01 Verify, don't assume: Windows Update said "up to date" — we checked the build number. Our firewall was hardened — five days later, role installs had re-opened 17 rules and added a web server. We only knew because we re-checked against baselines. 02 Evidence before action: during the incident leadership asked us to hold. Preserving evidence first meant that when the attacker wiped the log, we still had everything. Optional extra line (footer): our 1-day minimum password age blocked a teammate's first password change. Controls interact; you have to test them together. Close by linking to the bank: these are the habits that matter in a regulated environment like PNC's.</a:t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BOTH. Leave this slide up during Q&amp;A. Likely questions and who answers: - Why didn't your firewall stop it? (Carter) It never crossed the network; it came from Azure Run Command as SYSTEM. - Why 18 minutes to contain the backdoor? (Carter) Leadership hold at 12:45; our lessons learned add a rule that read-only evidence collection continues during a hold. - Was customer data exposed? (Carter) 0 of 101 modified, verified by hash. About 2 minutes of read-audit data was lost in the wipe, and we say so. - How was the web host protected? (Jack) [ufw, SSH via Bastion only, TLS from our CA, auditd]. - Why no SIEM? (Either) Forwarder installed and configured; the lab's receiving port couldn't be opened, so we used scheduled checks and evidence exports as a compensating control. - What would you fix first? Restrict Run Command access, then central logging. Either of us should be able to answer a question about the other's half.</a:t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7F6F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812800" y="1000720"/>
            <a:ext cx="10566400" cy="893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Source Serif 4"/>
              <a:buNone/>
              <a:defRPr sz="32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812800" y="2199481"/>
            <a:ext cx="10566400" cy="38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213D"/>
              </a:buClr>
              <a:buSzPts val="1600"/>
              <a:buNone/>
              <a:defRPr sz="1600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12800" y="1000720"/>
            <a:ext cx="10566400" cy="893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Source Serif 4"/>
              <a:buNone/>
              <a:defRPr b="0" i="0" sz="32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12800" y="2199481"/>
            <a:ext cx="10566400" cy="3845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400"/>
              <a:buFont typeface="IBM Plex Sans"/>
              <a:buNone/>
            </a:pPr>
            <a:r>
              <a:rPr b="1" lang="en-US">
                <a:solidFill>
                  <a:srgbClr val="F2A65A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1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812800" y="1264841"/>
            <a:ext cx="10883392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ct val="100000"/>
              <a:buFont typeface="Source Serif 4"/>
              <a:buNone/>
            </a:pPr>
            <a:r>
              <a:rPr b="1" i="0" lang="en-US" sz="6000">
                <a:solidFill>
                  <a:srgbClr val="07376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Summit Federal Bank</a:t>
            </a:r>
            <a:endParaRPr sz="6000">
              <a:solidFill>
                <a:srgbClr val="073763"/>
              </a:solidFill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12800" y="2268141"/>
            <a:ext cx="8502650" cy="75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2200"/>
              <a:buFont typeface="IBM Plex Sans"/>
              <a:buNone/>
            </a:pPr>
            <a:r>
              <a:rPr b="0" i="0" lang="en-US" sz="22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Building, defending and recovering a bank's environment against a live attack</a:t>
            </a:r>
            <a:endParaRPr b="0" i="0" sz="22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" name="Google Shape;24;p4"/>
          <p:cNvCxnSpPr/>
          <p:nvPr/>
        </p:nvCxnSpPr>
        <p:spPr>
          <a:xfrm>
            <a:off x="825500" y="5222379"/>
            <a:ext cx="0" cy="619621"/>
          </a:xfrm>
          <a:prstGeom prst="straightConnector1">
            <a:avLst/>
          </a:prstGeom>
          <a:noFill/>
          <a:ln cap="flat" cmpd="sng" w="254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/>
          <p:nvPr/>
        </p:nvSpPr>
        <p:spPr>
          <a:xfrm>
            <a:off x="990600" y="5222379"/>
            <a:ext cx="4317241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ts val="18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Carter Yanosick</a:t>
            </a:r>
            <a:endParaRPr b="0" i="0" sz="18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990600" y="5593159"/>
            <a:ext cx="431724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Incident Commander · Windows, AD and compliance</a:t>
            </a:r>
            <a:endParaRPr b="0" i="0" sz="14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" name="Google Shape;27;p4"/>
          <p:cNvCxnSpPr/>
          <p:nvPr/>
        </p:nvCxnSpPr>
        <p:spPr>
          <a:xfrm>
            <a:off x="5804396" y="5222379"/>
            <a:ext cx="0" cy="619621"/>
          </a:xfrm>
          <a:prstGeom prst="straightConnector1">
            <a:avLst/>
          </a:prstGeom>
          <a:noFill/>
          <a:ln cap="flat" cmpd="sng" w="254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4"/>
          <p:cNvSpPr/>
          <p:nvPr/>
        </p:nvSpPr>
        <p:spPr>
          <a:xfrm>
            <a:off x="5969496" y="5222379"/>
            <a:ext cx="3501211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ts val="1800"/>
              <a:buFont typeface="IBM Plex Sans"/>
              <a:buNone/>
            </a:pPr>
            <a:r>
              <a:t/>
            </a:r>
            <a:endParaRPr b="0" i="0" sz="18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969496" y="5593159"/>
            <a:ext cx="350121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Forensics and remediation · </a:t>
            </a:r>
            <a:r>
              <a:rPr b="0" i="0" lang="en-US" sz="14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Linux and web</a:t>
            </a:r>
            <a:endParaRPr b="0" i="0" sz="14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0B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Presented to PNC leadership · October 22, 2026</a:t>
            </a:r>
            <a:endParaRPr b="0" i="0" sz="12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5602A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B5602A"/>
                </a:solidFill>
                <a:latin typeface="IBM Plex Sans"/>
                <a:ea typeface="IBM Plex Sans"/>
                <a:cs typeface="IBM Plex Sans"/>
                <a:sym typeface="IBM Plex Sans"/>
              </a:rPr>
              <a:t>01 · INFRASTRUCTURE AND HARDENING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812800" y="1000720"/>
            <a:ext cx="10883392" cy="919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Two servers</a:t>
            </a:r>
            <a:r>
              <a:rPr b="1" lang="en-US"/>
              <a:t> </a:t>
            </a:r>
            <a:r>
              <a:rPr b="1" i="0" lang="en-US" sz="32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hardened to PCI DSS </a:t>
            </a:r>
            <a:r>
              <a:rPr b="1" lang="en-US"/>
              <a:t>standard</a:t>
            </a:r>
            <a:endParaRPr sz="3200"/>
          </a:p>
        </p:txBody>
      </p:sp>
      <p:sp>
        <p:nvSpPr>
          <p:cNvPr id="38" name="Google Shape;38;p5"/>
          <p:cNvSpPr/>
          <p:nvPr/>
        </p:nvSpPr>
        <p:spPr>
          <a:xfrm>
            <a:off x="812800" y="2148681"/>
            <a:ext cx="3937000" cy="3189585"/>
          </a:xfrm>
          <a:prstGeom prst="roundRect">
            <a:avLst>
              <a:gd fmla="val 3185" name="adj"/>
            </a:avLst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066800" y="2402681"/>
            <a:ext cx="35319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F2A65A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we built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920550" y="2762050"/>
            <a:ext cx="37215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E"/>
              </a:buClr>
              <a:buSzPts val="1300"/>
              <a:buFont typeface="IBM Plex Sans"/>
              <a:buChar char="•"/>
            </a:pPr>
            <a:r>
              <a:rPr b="0" i="0" lang="en-US" sz="1300" u="none" cap="none" strike="noStrike">
                <a:solidFill>
                  <a:srgbClr val="DCE3EE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 controller and file server (summitfed.local) with an internal CA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E"/>
              </a:buClr>
              <a:buSzPts val="1300"/>
              <a:buFont typeface="IBM Plex Sans"/>
              <a:buChar char="•"/>
            </a:pPr>
            <a:r>
              <a:rPr b="0" i="0" lang="en-US" sz="1300" u="none" cap="none" strike="noStrike">
                <a:solidFill>
                  <a:srgbClr val="DCE3EE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 host running the bank's web app over TLS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E"/>
              </a:buClr>
              <a:buSzPts val="1300"/>
              <a:buFont typeface="IBM Plex Sans"/>
              <a:buChar char="•"/>
            </a:pPr>
            <a:r>
              <a:rPr lang="en-US" sz="1300">
                <a:solidFill>
                  <a:srgbClr val="DCE3EE"/>
                </a:solidFill>
                <a:latin typeface="IBM Plex Sans"/>
                <a:ea typeface="IBM Plex Sans"/>
                <a:cs typeface="IBM Plex Sans"/>
                <a:sym typeface="IBM Plex Sans"/>
              </a:rPr>
              <a:t>SSH </a:t>
            </a:r>
            <a:r>
              <a:rPr b="0" i="0" lang="en-US" sz="1300" u="none" cap="none" strike="noStrike">
                <a:solidFill>
                  <a:srgbClr val="DCE3EE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access only through Azure Bastion; no public IPs; ke</a:t>
            </a:r>
            <a:r>
              <a:rPr lang="en-US" sz="1300">
                <a:solidFill>
                  <a:srgbClr val="DCE3EE"/>
                </a:solidFill>
                <a:latin typeface="IBM Plex Sans"/>
                <a:ea typeface="IBM Plex Sans"/>
                <a:cs typeface="IBM Plex Sans"/>
                <a:sym typeface="IBM Plex Sans"/>
              </a:rPr>
              <a:t>y required.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E"/>
              </a:buClr>
              <a:buSzPts val="1300"/>
              <a:buFont typeface="IBM Plex Sans"/>
              <a:buChar char="•"/>
            </a:pPr>
            <a:r>
              <a:rPr b="0" i="0" lang="en-US" sz="1300" u="none" cap="none" strike="noStrike">
                <a:solidFill>
                  <a:srgbClr val="DCE3EE"/>
                </a:solidFill>
                <a:latin typeface="IBM Plex Sans"/>
                <a:ea typeface="IBM Plex Sans"/>
                <a:cs typeface="IBM Plex Sans"/>
                <a:sym typeface="IBM Plex Sans"/>
              </a:rPr>
              <a:t>Isolated subnet (NSG) plus a host firewall on each server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E"/>
              </a:buClr>
              <a:buSzPts val="1300"/>
              <a:buFont typeface="IBM Plex Sans"/>
              <a:buChar char="•"/>
            </a:pPr>
            <a:r>
              <a:rPr b="0" i="0" lang="en-US" sz="1300" u="none" cap="none" strike="noStrike">
                <a:solidFill>
                  <a:srgbClr val="DCE3EE"/>
                </a:solidFill>
                <a:latin typeface="IBM Plex Sans"/>
                <a:ea typeface="IBM Plex Sans"/>
                <a:cs typeface="IBM Plex Sans"/>
                <a:sym typeface="IBM Plex Sans"/>
              </a:rPr>
              <a:t>Synthetic customer records with truncated card numbers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006975" y="2151856"/>
            <a:ext cx="3117850" cy="1524893"/>
          </a:xfrm>
          <a:prstGeom prst="roundRect">
            <a:avLst>
              <a:gd fmla="val 6455" name="adj"/>
            </a:avLst>
          </a:prstGeom>
          <a:solidFill>
            <a:srgbClr val="FFFFFF"/>
          </a:solidFill>
          <a:ln cap="flat" cmpd="sng" w="9525">
            <a:solidFill>
              <a:srgbClr val="DAD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5187950" y="2332831"/>
            <a:ext cx="2838577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120 → 23</a:t>
            </a:r>
            <a:endParaRPr b="0" i="0" sz="2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187950" y="2762052"/>
            <a:ext cx="283857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inbound firewall rules on the DC, tested from the web host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258175" y="2151856"/>
            <a:ext cx="3117850" cy="1524893"/>
          </a:xfrm>
          <a:prstGeom prst="roundRect">
            <a:avLst>
              <a:gd fmla="val 6455" name="adj"/>
            </a:avLst>
          </a:prstGeom>
          <a:solidFill>
            <a:srgbClr val="FFFFFF"/>
          </a:solidFill>
          <a:ln cap="flat" cmpd="sng" w="9525">
            <a:solidFill>
              <a:srgbClr val="DAD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8439150" y="2332831"/>
            <a:ext cx="2838577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 → 6</a:t>
            </a:r>
            <a:endParaRPr b="0" i="0" sz="2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439150" y="2762052"/>
            <a:ext cx="283857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lockout threshold; passwords now 14+ characters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006975" y="3810099"/>
            <a:ext cx="3117850" cy="1524992"/>
          </a:xfrm>
          <a:prstGeom prst="roundRect">
            <a:avLst>
              <a:gd fmla="val 6454" name="adj"/>
            </a:avLst>
          </a:prstGeom>
          <a:solidFill>
            <a:srgbClr val="FFFFFF"/>
          </a:solidFill>
          <a:ln cap="flat" cmpd="sng" w="9525">
            <a:solidFill>
              <a:srgbClr val="DAD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5187950" y="3991074"/>
            <a:ext cx="2838577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19</a:t>
            </a:r>
            <a:endParaRPr b="0" i="0" sz="2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187950" y="4420295"/>
            <a:ext cx="283857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audit categories turned on; legacy protocols removed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8258175" y="3810099"/>
            <a:ext cx="3117850" cy="1524992"/>
          </a:xfrm>
          <a:prstGeom prst="roundRect">
            <a:avLst>
              <a:gd fmla="val 6454" name="adj"/>
            </a:avLst>
          </a:prstGeom>
          <a:solidFill>
            <a:srgbClr val="FFFFFF"/>
          </a:solidFill>
          <a:ln cap="flat" cmpd="sng" w="9525">
            <a:solidFill>
              <a:srgbClr val="DAD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8439150" y="3991074"/>
            <a:ext cx="2838577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800"/>
              <a:buFont typeface="Source Serif 4"/>
              <a:buNone/>
            </a:pPr>
            <a:r>
              <a:rPr b="1" i="0" lang="en-US" sz="28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101 / 101</a:t>
            </a:r>
            <a:endParaRPr b="0" i="0" sz="2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439150" y="4420295"/>
            <a:ext cx="283857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records restored and verified in a tested backup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17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A7179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data: role-based access replaced "any domain user can modify" · encrypted in transit · every access audited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5602A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B5602A"/>
                </a:solidFill>
                <a:latin typeface="IBM Plex Sans"/>
                <a:ea typeface="IBM Plex Sans"/>
                <a:cs typeface="IBM Plex Sans"/>
                <a:sym typeface="IBM Plex Sans"/>
              </a:rPr>
              <a:t>02 · THE ATTACK · OCTOBER 8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812800" y="1000720"/>
            <a:ext cx="10883392" cy="919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ct val="100000"/>
              <a:buFont typeface="Source Serif 4"/>
              <a:buNone/>
            </a:pPr>
            <a:r>
              <a:rPr b="1" i="0" lang="en-US" sz="32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 attacker took over the DC and we caught it in 40 seconds</a:t>
            </a:r>
            <a:endParaRPr sz="3200"/>
          </a:p>
        </p:txBody>
      </p:sp>
      <p:graphicFrame>
        <p:nvGraphicFramePr>
          <p:cNvPr id="61" name="Google Shape;61;p6"/>
          <p:cNvGraphicFramePr/>
          <p:nvPr/>
        </p:nvGraphicFramePr>
        <p:xfrm>
          <a:off x="825500" y="2161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{66FC127E-0537-4202-97A2-A1CFAFD184D5}</a:tableStyleId>
              </a:tblPr>
              <a:tblGrid>
                <a:gridCol w="1477525"/>
                <a:gridCol w="4538100"/>
                <a:gridCol w="4538100"/>
              </a:tblGrid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1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7F6F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Time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1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7F6F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What the attacker did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1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7F6F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What we did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12:41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Logged on with the break-glass admin account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Detected at 12:42 by our monitoring script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12:56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Downloaded test malware (EICAR)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Blocked and removed by Defender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DE5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13:03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Created hidden admin account "svchelper"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Disabled, stripped, removed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13:10–13:26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Planted disguised task "WindowsUpdateHelper"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D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Found by baseline comparison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DE5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13:26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Erased the Security audit log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421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Timeline already preserved 3 minutes earlier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D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" name="Google Shape;62;p6"/>
          <p:cNvSpPr/>
          <p:nvPr/>
        </p:nvSpPr>
        <p:spPr>
          <a:xfrm>
            <a:off x="812800" y="4571008"/>
            <a:ext cx="5207000" cy="784820"/>
          </a:xfrm>
          <a:prstGeom prst="roundRect">
            <a:avLst>
              <a:gd fmla="val 9709" name="adj"/>
            </a:avLst>
          </a:prstGeom>
          <a:solidFill>
            <a:srgbClr val="14213D"/>
          </a:solidFill>
          <a:ln>
            <a:noFill/>
          </a:ln>
        </p:spPr>
        <p:txBody>
          <a:bodyPr anchorCtr="0" anchor="t" bIns="104675" lIns="180875" spcFirstLastPara="1" rIns="36850" wrap="square" tIns="130075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F2A65A"/>
                </a:solidFill>
                <a:latin typeface="IBM Plex Sans"/>
                <a:ea typeface="IBM Plex Sans"/>
                <a:cs typeface="IBM Plex Sans"/>
                <a:sym typeface="IBM Plex Sans"/>
              </a:rPr>
              <a:t>Vector:</a:t>
            </a:r>
            <a:r>
              <a:rPr b="0" i="0" lang="en-US" sz="1400" u="none" cap="none" strike="noStrike">
                <a:solidFill>
                  <a:srgbClr val="F7F6F1"/>
                </a:solidFill>
                <a:latin typeface="IBM Plex Sans"/>
                <a:ea typeface="IBM Plex Sans"/>
                <a:cs typeface="IBM Plex Sans"/>
                <a:sym typeface="IBM Plex Sans"/>
              </a:rPr>
              <a:t> Azure Run Command, executing as SYSTEM and bypassing every network control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172200" y="4571008"/>
            <a:ext cx="5207000" cy="784820"/>
          </a:xfrm>
          <a:prstGeom prst="roundRect">
            <a:avLst>
              <a:gd fmla="val 9709" name="adj"/>
            </a:avLst>
          </a:prstGeom>
          <a:solidFill>
            <a:srgbClr val="14213D"/>
          </a:solidFill>
          <a:ln>
            <a:noFill/>
          </a:ln>
        </p:spPr>
        <p:txBody>
          <a:bodyPr anchorCtr="0" anchor="t" bIns="104675" lIns="180875" spcFirstLastPara="1" rIns="36850" wrap="square" tIns="130075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F2A65A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Impact:</a:t>
            </a:r>
            <a:r>
              <a:rPr b="0" i="0" lang="en-US" sz="1400" u="none" cap="none" strike="noStrike">
                <a:solidFill>
                  <a:srgbClr val="F7F6F1"/>
                </a:solidFill>
                <a:latin typeface="IBM Plex Sans"/>
                <a:ea typeface="IBM Plex Sans"/>
                <a:cs typeface="IBM Plex Sans"/>
                <a:sym typeface="IBM Plex Sans"/>
              </a:rPr>
              <a:t> 0 of 101 customer records modified; all credentials reset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5602A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B5602A"/>
                </a:solidFill>
                <a:latin typeface="IBM Plex Sans"/>
                <a:ea typeface="IBM Plex Sans"/>
                <a:cs typeface="IBM Plex Sans"/>
                <a:sym typeface="IBM Plex Sans"/>
              </a:rPr>
              <a:t>03 · LESSONS LEARNED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7"/>
          <p:cNvSpPr txBox="1"/>
          <p:nvPr>
            <p:ph type="title"/>
          </p:nvPr>
        </p:nvSpPr>
        <p:spPr>
          <a:xfrm>
            <a:off x="812800" y="1000720"/>
            <a:ext cx="10883392" cy="919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Detection worked; access to the cloud management plane was the gap</a:t>
            </a:r>
            <a:endParaRPr sz="3200"/>
          </a:p>
        </p:txBody>
      </p:sp>
      <p:sp>
        <p:nvSpPr>
          <p:cNvPr id="71" name="Google Shape;71;p7"/>
          <p:cNvSpPr/>
          <p:nvPr/>
        </p:nvSpPr>
        <p:spPr>
          <a:xfrm>
            <a:off x="815975" y="2151856"/>
            <a:ext cx="5175250" cy="2066925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AD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1047750" y="2383631"/>
            <a:ext cx="4853051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6F95"/>
              </a:buClr>
              <a:buSzPts val="1700"/>
              <a:buFont typeface="IBM Plex Sans"/>
              <a:buNone/>
            </a:pPr>
            <a:r>
              <a:rPr b="1" i="0" lang="en-US" sz="1700" u="none" cap="none" strike="noStrike">
                <a:solidFill>
                  <a:srgbClr val="2E6F95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worked</a:t>
            </a:r>
            <a:endParaRPr b="0" i="0" sz="17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1132713" y="2744291"/>
            <a:ext cx="4760468" cy="126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9037" lvl="0" marL="169037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350"/>
              <a:buFont typeface="IBM Plex Sans"/>
              <a:buChar char="•"/>
            </a:pPr>
            <a:r>
              <a:rPr b="0" i="0" lang="en-US" sz="1350" u="none" cap="none" strike="noStrike">
                <a:solidFill>
                  <a:srgbClr val="2B3445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Detection in 40 seconds from our own monitoring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037" lvl="0" marL="169037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350"/>
              <a:buFont typeface="IBM Plex Sans"/>
              <a:buChar char="•"/>
            </a:pPr>
            <a:r>
              <a:rPr b="0" i="0" lang="en-US" sz="1350" u="none" cap="none" strike="noStrike">
                <a:solidFill>
                  <a:srgbClr val="2B3445"/>
                </a:solidFill>
                <a:latin typeface="IBM Plex Sans"/>
                <a:ea typeface="IBM Plex Sans"/>
                <a:cs typeface="IBM Plex Sans"/>
                <a:sym typeface="IBM Plex Sans"/>
              </a:rPr>
              <a:t>Named admin accounts and logging traced every action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037" lvl="0" marL="169037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350"/>
              <a:buFont typeface="IBM Plex Sans"/>
              <a:buChar char="•"/>
            </a:pPr>
            <a:r>
              <a:rPr b="0" i="0" lang="en-US" sz="1350" u="none" cap="none" strike="noStrike">
                <a:solidFill>
                  <a:srgbClr val="2B3445"/>
                </a:solidFill>
                <a:latin typeface="IBM Plex Sans"/>
                <a:ea typeface="IBM Plex Sans"/>
                <a:cs typeface="IBM Plex Sans"/>
                <a:sym typeface="IBM Plex Sans"/>
              </a:rPr>
              <a:t>Evidence preserved before the attacker wiped the log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037" lvl="0" marL="169037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350"/>
              <a:buFont typeface="IBM Plex Sans"/>
              <a:buChar char="•"/>
            </a:pPr>
            <a:r>
              <a:rPr b="0" i="0" lang="en-US" sz="1350" u="none" cap="none" strike="noStrike">
                <a:solidFill>
                  <a:srgbClr val="2B3445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Baselines caught what the logs could no longer show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037" lvl="0" marL="169037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350"/>
              <a:buFont typeface="IBM Plex Sans"/>
              <a:buChar char="•"/>
            </a:pPr>
            <a:r>
              <a:rPr b="0" i="0" lang="en-US" sz="1350" u="none" cap="none" strike="noStrike">
                <a:solidFill>
                  <a:srgbClr val="2B3445"/>
                </a:solidFill>
                <a:latin typeface="IBM Plex Sans"/>
                <a:ea typeface="IBM Plex Sans"/>
                <a:cs typeface="IBM Plex Sans"/>
                <a:sym typeface="IBM Plex Sans"/>
              </a:rPr>
              <a:t>A tested backup meant recovery was never in doubt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200775" y="2151856"/>
            <a:ext cx="5175250" cy="2066925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9525">
            <a:solidFill>
              <a:srgbClr val="DAD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6432550" y="2383631"/>
            <a:ext cx="4853051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5602A"/>
              </a:buClr>
              <a:buSzPts val="1700"/>
              <a:buFont typeface="IBM Plex Sans"/>
              <a:buNone/>
            </a:pPr>
            <a:r>
              <a:rPr b="1" i="0" lang="en-US" sz="1700" u="none" cap="none" strike="noStrike">
                <a:solidFill>
                  <a:srgbClr val="B5602A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we would change</a:t>
            </a:r>
            <a:endParaRPr b="0" i="0" sz="17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517513" y="2744291"/>
            <a:ext cx="4760468" cy="126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9037" lvl="0" marL="169037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350"/>
              <a:buFont typeface="IBM Plex Sans"/>
              <a:buChar char="•"/>
            </a:pPr>
            <a:r>
              <a:rPr b="0" i="0" lang="en-US" sz="1350" u="none" cap="none" strike="noStrike">
                <a:solidFill>
                  <a:srgbClr val="2B344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Restrict who can run commands on servers from Azure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037" lvl="0" marL="169037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350"/>
              <a:buFont typeface="IBM Plex Sans"/>
              <a:buChar char="•"/>
            </a:pPr>
            <a:r>
              <a:rPr b="0" i="0" lang="en-US" sz="1350" u="none" cap="none" strike="noStrike">
                <a:solidFill>
                  <a:srgbClr val="2B344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Send logs off the server in real time (central SIEM)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037" lvl="0" marL="169037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350"/>
              <a:buFont typeface="IBM Plex Sans"/>
              <a:buChar char="•"/>
            </a:pPr>
            <a:r>
              <a:rPr b="0" i="0" lang="en-US" sz="1350" u="none" cap="none" strike="noStrike">
                <a:solidFill>
                  <a:srgbClr val="2B3445"/>
                </a:solidFill>
                <a:latin typeface="IBM Plex Sans"/>
                <a:ea typeface="IBM Plex Sans"/>
                <a:cs typeface="IBM Plex Sans"/>
                <a:sym typeface="IBM Plex Sans"/>
              </a:rPr>
              <a:t>Vault the break-glass password; alert on every use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037" lvl="0" marL="169037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350"/>
              <a:buFont typeface="IBM Plex Sans"/>
              <a:buChar char="•"/>
            </a:pPr>
            <a:r>
              <a:rPr b="0" i="0" lang="en-US" sz="1350" u="none" cap="none" strike="noStrike">
                <a:solidFill>
                  <a:srgbClr val="2B3445"/>
                </a:solidFill>
                <a:latin typeface="IBM Plex Sans"/>
                <a:ea typeface="IBM Plex Sans"/>
                <a:cs typeface="IBM Plex Sans"/>
                <a:sym typeface="IBM Plex Sans"/>
              </a:rPr>
              <a:t>Route every containment action through the IC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037" lvl="0" marL="169037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350"/>
              <a:buFont typeface="IBM Plex Sans"/>
              <a:buChar char="•"/>
            </a:pPr>
            <a:r>
              <a:rPr b="0" i="0" lang="en-US" sz="1350" u="none" cap="none" strike="noStrike">
                <a:solidFill>
                  <a:srgbClr val="2B3445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Monitor state, not only events, on a schedule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812800" y="711200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5602A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B5602A"/>
                </a:solidFill>
                <a:latin typeface="IBM Plex Sans"/>
                <a:ea typeface="IBM Plex Sans"/>
                <a:cs typeface="IBM Plex Sans"/>
                <a:sym typeface="IBM Plex Sans"/>
              </a:rPr>
              <a:t>04 · BIGGEST COURSE TAKEAWAYS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3" name="Google Shape;83;p8"/>
          <p:cNvSpPr txBox="1"/>
          <p:nvPr>
            <p:ph type="title"/>
          </p:nvPr>
        </p:nvSpPr>
        <p:spPr>
          <a:xfrm>
            <a:off x="812800" y="100072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ct val="100000"/>
              <a:buFont typeface="Source Serif 4"/>
              <a:buNone/>
            </a:pPr>
            <a:r>
              <a:rPr b="1" lang="en-US"/>
              <a:t>Biggest Course Takeaways</a:t>
            </a:r>
            <a:endParaRPr sz="3200"/>
          </a:p>
        </p:txBody>
      </p:sp>
      <p:sp>
        <p:nvSpPr>
          <p:cNvPr id="84" name="Google Shape;84;p8"/>
          <p:cNvSpPr/>
          <p:nvPr/>
        </p:nvSpPr>
        <p:spPr>
          <a:xfrm>
            <a:off x="815975" y="1704876"/>
            <a:ext cx="3397250" cy="2314873"/>
          </a:xfrm>
          <a:prstGeom prst="roundRect">
            <a:avLst>
              <a:gd fmla="val 4252" name="adj"/>
            </a:avLst>
          </a:prstGeom>
          <a:solidFill>
            <a:srgbClr val="FFFFFF"/>
          </a:solidFill>
          <a:ln cap="flat" cmpd="sng" w="9525">
            <a:solidFill>
              <a:srgbClr val="DAD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1047750" y="1936651"/>
            <a:ext cx="3021711" cy="48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5602A"/>
              </a:buClr>
              <a:buSzPts val="2600"/>
              <a:buFont typeface="Source Serif 4"/>
              <a:buNone/>
            </a:pPr>
            <a:r>
              <a:rPr b="1" i="0" lang="en-US" sz="2600" u="none" cap="none" strike="noStrike">
                <a:solidFill>
                  <a:srgbClr val="B5602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1047750" y="2487811"/>
            <a:ext cx="3021711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Verify, don't assume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047750" y="2830711"/>
            <a:ext cx="3021711" cy="982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Never trust that a setting, patch or control is working because it says so. Check it, prove it, and check it again.”</a:t>
            </a:r>
            <a:endParaRPr b="0" i="0" sz="1300" u="none" cap="none" strike="noStrike"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4397375" y="1704876"/>
            <a:ext cx="3397250" cy="2314873"/>
          </a:xfrm>
          <a:prstGeom prst="roundRect">
            <a:avLst>
              <a:gd fmla="val 4252" name="adj"/>
            </a:avLst>
          </a:prstGeom>
          <a:solidFill>
            <a:srgbClr val="FFFFFF"/>
          </a:solidFill>
          <a:ln cap="flat" cmpd="sng" w="9525">
            <a:solidFill>
              <a:srgbClr val="DAD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4629150" y="1936651"/>
            <a:ext cx="3021711" cy="48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5602A"/>
              </a:buClr>
              <a:buSzPts val="2600"/>
              <a:buFont typeface="Source Serif 4"/>
              <a:buNone/>
            </a:pPr>
            <a:r>
              <a:rPr b="1" i="0" lang="en-US" sz="2600" u="none" cap="none" strike="noStrike">
                <a:solidFill>
                  <a:srgbClr val="B5602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4629150" y="2487811"/>
            <a:ext cx="3021711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Evidence before action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629150" y="2830711"/>
            <a:ext cx="3021711" cy="743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Preserve, attribute, then contain. </a:t>
            </a:r>
            <a:r>
              <a:rPr lang="en-US" sz="13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Going straight to deletion would’ve deleted the evidence that we would’ve captured.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7978775" y="1704876"/>
            <a:ext cx="3397250" cy="2314873"/>
          </a:xfrm>
          <a:prstGeom prst="roundRect">
            <a:avLst>
              <a:gd fmla="val 4252" name="adj"/>
            </a:avLst>
          </a:prstGeom>
          <a:solidFill>
            <a:srgbClr val="FFFFFF"/>
          </a:solidFill>
          <a:ln cap="flat" cmpd="sng" w="9525">
            <a:solidFill>
              <a:srgbClr val="DAD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8210550" y="1936651"/>
            <a:ext cx="3021711" cy="48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5602A"/>
              </a:buClr>
              <a:buSzPts val="2600"/>
              <a:buFont typeface="Source Serif 4"/>
              <a:buNone/>
            </a:pPr>
            <a:r>
              <a:rPr b="1" i="0" lang="en-US" sz="2600" u="none" cap="none" strike="noStrike">
                <a:solidFill>
                  <a:srgbClr val="B5602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8210550" y="2487811"/>
            <a:ext cx="3021711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lang="en-US" sz="1600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Teamwork makes or breaks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8210550" y="2830711"/>
            <a:ext cx="3021711" cy="743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 incident without teamwork will lead to disaster. Working with your peers is an invaluable skill.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F2A65A"/>
                </a:solidFill>
                <a:latin typeface="IBM Plex Sans"/>
                <a:ea typeface="IBM Plex Sans"/>
                <a:cs typeface="IBM Plex Sans"/>
                <a:sym typeface="IBM Plex Sans"/>
              </a:rPr>
              <a:t>SUMMIT FEDERAL BANK · TEAM 1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2" name="Google Shape;102;p9"/>
          <p:cNvSpPr txBox="1"/>
          <p:nvPr>
            <p:ph type="title"/>
          </p:nvPr>
        </p:nvSpPr>
        <p:spPr>
          <a:xfrm>
            <a:off x="812800" y="1214041"/>
            <a:ext cx="10883392" cy="77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ct val="100000"/>
              <a:buFont typeface="Source Serif 4"/>
              <a:buNone/>
            </a:pPr>
            <a:r>
              <a:rPr b="1" i="0" lang="en-US" sz="5600">
                <a:solidFill>
                  <a:srgbClr val="07376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Questions?</a:t>
            </a:r>
            <a:endParaRPr sz="5600">
              <a:solidFill>
                <a:srgbClr val="073763"/>
              </a:solidFill>
            </a:endParaRPr>
          </a:p>
        </p:txBody>
      </p:sp>
      <p:cxnSp>
        <p:nvCxnSpPr>
          <p:cNvPr id="103" name="Google Shape;103;p9"/>
          <p:cNvCxnSpPr/>
          <p:nvPr/>
        </p:nvCxnSpPr>
        <p:spPr>
          <a:xfrm>
            <a:off x="812800" y="4829274"/>
            <a:ext cx="2508250" cy="0"/>
          </a:xfrm>
          <a:prstGeom prst="straightConnector1">
            <a:avLst/>
          </a:prstGeom>
          <a:noFill/>
          <a:ln cap="flat" cmpd="sng" w="1905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9"/>
          <p:cNvSpPr/>
          <p:nvPr/>
        </p:nvSpPr>
        <p:spPr>
          <a:xfrm>
            <a:off x="812800" y="4991199"/>
            <a:ext cx="2583498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ts val="3200"/>
              <a:buFont typeface="Source Serif 4"/>
              <a:buNone/>
            </a:pPr>
            <a:r>
              <a:rPr b="1" i="0" lang="en-US" sz="3200" u="none" cap="none" strike="noStrike">
                <a:solidFill>
                  <a:srgbClr val="07376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40 sec</a:t>
            </a:r>
            <a:endParaRPr b="0" i="0" sz="32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812800" y="5610920"/>
            <a:ext cx="25834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detect the intrusion</a:t>
            </a:r>
            <a:endParaRPr b="0" i="0" sz="13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6" name="Google Shape;106;p9"/>
          <p:cNvCxnSpPr/>
          <p:nvPr/>
        </p:nvCxnSpPr>
        <p:spPr>
          <a:xfrm>
            <a:off x="3498850" y="4829274"/>
            <a:ext cx="2508250" cy="0"/>
          </a:xfrm>
          <a:prstGeom prst="straightConnector1">
            <a:avLst/>
          </a:prstGeom>
          <a:noFill/>
          <a:ln cap="flat" cmpd="sng" w="1905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9"/>
          <p:cNvSpPr/>
          <p:nvPr/>
        </p:nvSpPr>
        <p:spPr>
          <a:xfrm>
            <a:off x="3498850" y="4991199"/>
            <a:ext cx="2583498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ts val="3200"/>
              <a:buFont typeface="Source Serif 4"/>
              <a:buNone/>
            </a:pPr>
            <a:r>
              <a:rPr b="1" i="0" lang="en-US" sz="3200" u="none" cap="none" strike="noStrike">
                <a:solidFill>
                  <a:srgbClr val="07376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 of 101</a:t>
            </a:r>
            <a:endParaRPr b="0" i="0" sz="32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3498850" y="5610920"/>
            <a:ext cx="25834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records modified</a:t>
            </a:r>
            <a:endParaRPr b="0" i="0" sz="13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9" name="Google Shape;109;p9"/>
          <p:cNvCxnSpPr/>
          <p:nvPr/>
        </p:nvCxnSpPr>
        <p:spPr>
          <a:xfrm>
            <a:off x="6184900" y="4829274"/>
            <a:ext cx="2508250" cy="0"/>
          </a:xfrm>
          <a:prstGeom prst="straightConnector1">
            <a:avLst/>
          </a:prstGeom>
          <a:noFill/>
          <a:ln cap="flat" cmpd="sng" w="1905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9"/>
          <p:cNvSpPr/>
          <p:nvPr/>
        </p:nvSpPr>
        <p:spPr>
          <a:xfrm>
            <a:off x="6184900" y="4991199"/>
            <a:ext cx="2583498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ts val="3200"/>
              <a:buFont typeface="Source Serif 4"/>
              <a:buNone/>
            </a:pPr>
            <a:r>
              <a:rPr b="1" i="0" lang="en-US" sz="3200" u="none" cap="none" strike="noStrike">
                <a:solidFill>
                  <a:srgbClr val="07376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120 → 23</a:t>
            </a:r>
            <a:endParaRPr b="0" i="0" sz="32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6184900" y="5610920"/>
            <a:ext cx="25834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 firewall rules</a:t>
            </a:r>
            <a:endParaRPr b="0" i="0" sz="13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2" name="Google Shape;112;p9"/>
          <p:cNvCxnSpPr/>
          <p:nvPr/>
        </p:nvCxnSpPr>
        <p:spPr>
          <a:xfrm>
            <a:off x="8870950" y="4829274"/>
            <a:ext cx="2508250" cy="0"/>
          </a:xfrm>
          <a:prstGeom prst="straightConnector1">
            <a:avLst/>
          </a:prstGeom>
          <a:noFill/>
          <a:ln cap="flat" cmpd="sng" w="1905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9"/>
          <p:cNvSpPr/>
          <p:nvPr/>
        </p:nvSpPr>
        <p:spPr>
          <a:xfrm>
            <a:off x="8870950" y="4991199"/>
            <a:ext cx="2583498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1"/>
              </a:buClr>
              <a:buSzPts val="3200"/>
              <a:buFont typeface="Source Serif 4"/>
              <a:buNone/>
            </a:pPr>
            <a:r>
              <a:rPr b="1" i="0" lang="en-US" sz="3200" u="none" cap="none" strike="noStrike">
                <a:solidFill>
                  <a:srgbClr val="07376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 of 2</a:t>
            </a:r>
            <a:endParaRPr b="0" i="0" sz="32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8870950" y="5610920"/>
            <a:ext cx="25834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persistence mechanisms found</a:t>
            </a:r>
            <a:endParaRPr b="0" i="0" sz="13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0B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0737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Carter Yanosick · </a:t>
            </a:r>
            <a:endParaRPr b="0" i="0" sz="1200" u="none" cap="none" strike="noStrike">
              <a:solidFill>
                <a:srgbClr val="07376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ummit Federal Bank Capstone">
  <a:themeElements>
    <a:clrScheme name="Summit Federal Bank Capstone">
      <a:dk1>
        <a:srgbClr val="14213D"/>
      </a:dk1>
      <a:lt1>
        <a:srgbClr val="F7F6F1"/>
      </a:lt1>
      <a:dk2>
        <a:srgbClr val="4D566A"/>
      </a:dk2>
      <a:lt2>
        <a:srgbClr val="E0E1DF"/>
      </a:lt2>
      <a:accent1>
        <a:srgbClr val="B5602A"/>
      </a:accent1>
      <a:accent2>
        <a:srgbClr val="F2A65A"/>
      </a:accent2>
      <a:accent3>
        <a:srgbClr val="8FA0BA"/>
      </a:accent3>
      <a:accent4>
        <a:srgbClr val="2E6F95"/>
      </a:accent4>
      <a:accent5>
        <a:srgbClr val="C9D3E3"/>
      </a:accent5>
      <a:accent6>
        <a:srgbClr val="4A556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ummit Federal Bank Capstone">
  <a:themeElements>
    <a:clrScheme name="Summit Federal Bank Capstone">
      <a:dk1>
        <a:srgbClr val="14213D"/>
      </a:dk1>
      <a:lt1>
        <a:srgbClr val="F7F6F1"/>
      </a:lt1>
      <a:dk2>
        <a:srgbClr val="4D566A"/>
      </a:dk2>
      <a:lt2>
        <a:srgbClr val="E0E1DF"/>
      </a:lt2>
      <a:accent1>
        <a:srgbClr val="B5602A"/>
      </a:accent1>
      <a:accent2>
        <a:srgbClr val="F2A65A"/>
      </a:accent2>
      <a:accent3>
        <a:srgbClr val="8FA0BA"/>
      </a:accent3>
      <a:accent4>
        <a:srgbClr val="2E6F95"/>
      </a:accent4>
      <a:accent5>
        <a:srgbClr val="C9D3E3"/>
      </a:accent5>
      <a:accent6>
        <a:srgbClr val="4A556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